
<file path=[Content_Types].xml><?xml version="1.0" encoding="utf-8"?>
<Types xmlns="http://schemas.openxmlformats.org/package/2006/content-types">
  <Default Extension="xml" ContentType="application/vnd.openxmlformats-officedocument.presentationml.presentation.main+xml"/>
  <Default Extension="png" ContentType="image/png"/>
  <Default Extension="fntdata" ContentType="application/x-fontdata"/>
  <Default Extension="jpg" ContentType="image/jpeg"/>
  <Default Extension="rels" ContentType="application/vnd.openxmlformats-package.relationships+xml"/>
  <Override PartName="/ppt/slides/slide15.xml" ContentType="application/vnd.openxmlformats-officedocument.presentationml.slid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5.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s/slide17.xml" ContentType="application/vnd.openxmlformats-officedocument.presentationml.slide+xml"/>
  <Override PartName="/ppt/notesSlides/notesSlide17.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viewProps.xml" ContentType="application/vnd.openxmlformats-officedocument.presentationml.viewProps+xml"/>
  <Override PartName="/ppt/presProps.xml" ContentType="application/vnd.openxmlformats-officedocument.presentationml.presProps+xml"/>
  <Override PartName="/ppt/slides/slide4.xml" ContentType="application/vnd.openxmlformats-officedocument.presentationml.slide+xml"/>
  <Override PartName="/ppt/notesSlides/notesSlide4.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Id1" /></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trictFirstAndLastChars="0" embedTrueTypeFonts="1" saveSubsetFonts="1" autoCompressPictures="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9144000" cy="5143500"/>
  <p:notesSz cx="6858000" cy="9144000"/>
  <p:embeddedFontLst>
    <p:embeddedFont>
      <p:font typeface="Proxima Nova"/>
      <p:regular r:id="rId24"/>
      <p:bold r:id="rId25"/>
      <p:italic r:id="rId26"/>
      <p:boldItalic r:id="rId27"/>
    </p:embeddedFont>
    <p:embeddedFont>
      <p:font typeface="Lexend"/>
      <p:regular r:id="rId28"/>
      <p:bold r:id="rId29"/>
    </p:embeddedFont>
    <p:embeddedFont>
      <p:font typeface="Alfa Slab One"/>
      <p:regular r:id="rId30"/>
    </p:embeddedFont>
    <p:embeddedFont>
      <p:font typeface="Inter Tight Black"/>
      <p:bold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&#65279;<?xml version="1.0" encoding="utf-8"?><Relationships xmlns="http://schemas.openxmlformats.org/package/2006/relationships"><Relationship Type="http://schemas.openxmlformats.org/officeDocument/2006/relationships/slide" Target="/ppt/slides/slide15.xml" Id="rId20" /><Relationship Type="http://schemas.openxmlformats.org/officeDocument/2006/relationships/slide" Target="/ppt/slides/slide17.xml" Id="rId22" /><Relationship Type="http://schemas.openxmlformats.org/officeDocument/2006/relationships/slide" Target="/ppt/slides/slide16.xml" Id="rId21" /><Relationship Type="http://schemas.openxmlformats.org/officeDocument/2006/relationships/font" Target="/ppt/fonts/ProximaNova-regular.fntdata" Id="rId24" /><Relationship Type="http://schemas.openxmlformats.org/officeDocument/2006/relationships/slide" Target="/ppt/slides/slide18.xml" Id="rId23" /><Relationship Type="http://schemas.openxmlformats.org/officeDocument/2006/relationships/theme" Target="/ppt/theme/theme1.xml" Id="rId1" /><Relationship Type="http://schemas.openxmlformats.org/officeDocument/2006/relationships/viewProps" Target="/ppt/viewProps.xml" Id="rId2" /><Relationship Type="http://schemas.openxmlformats.org/officeDocument/2006/relationships/presProps" Target="/ppt/presProps.xml" Id="rId3" /><Relationship Type="http://schemas.openxmlformats.org/officeDocument/2006/relationships/slideMaster" Target="/ppt/slideMasters/slideMaster1.xml" Id="rId4" /><Relationship Type="http://schemas.openxmlformats.org/officeDocument/2006/relationships/slide" Target="/ppt/slides/slide4.xml" Id="rId9" /><Relationship Type="http://schemas.openxmlformats.org/officeDocument/2006/relationships/font" Target="/ppt/fonts/ProximaNova-italic.fntdata" Id="rId26" /><Relationship Type="http://schemas.openxmlformats.org/officeDocument/2006/relationships/font" Target="/ppt/fonts/ProximaNova-bold.fntdata" Id="rId25" /><Relationship Type="http://schemas.openxmlformats.org/officeDocument/2006/relationships/font" Target="/ppt/fonts/Lexend-regular.fntdata" Id="rId28" /><Relationship Type="http://schemas.openxmlformats.org/officeDocument/2006/relationships/font" Target="/ppt/fonts/ProximaNova-boldItalic.fntdata" Id="rId27" /><Relationship Type="http://schemas.openxmlformats.org/officeDocument/2006/relationships/notesMaster" Target="/ppt/notesMasters/notesMaster1.xml" Id="rId5" /><Relationship Type="http://schemas.openxmlformats.org/officeDocument/2006/relationships/slide" Target="/ppt/slides/slide1.xml" Id="rId6" /><Relationship Type="http://schemas.openxmlformats.org/officeDocument/2006/relationships/font" Target="/ppt/fonts/Lexend-bold.fntdata" Id="rId29" /><Relationship Type="http://schemas.openxmlformats.org/officeDocument/2006/relationships/slide" Target="/ppt/slides/slide2.xml" Id="rId7" /><Relationship Type="http://schemas.openxmlformats.org/officeDocument/2006/relationships/slide" Target="/ppt/slides/slide3.xml" Id="rId8" /><Relationship Type="http://schemas.openxmlformats.org/officeDocument/2006/relationships/font" Target="/ppt/fonts/InterTightBlack-bold.fntdata" Id="rId31" /><Relationship Type="http://schemas.openxmlformats.org/officeDocument/2006/relationships/font" Target="/ppt/fonts/AlfaSlabOne-regular.fntdata" Id="rId30" /><Relationship Type="http://schemas.openxmlformats.org/officeDocument/2006/relationships/slide" Target="/ppt/slides/slide6.xml" Id="rId11" /><Relationship Type="http://schemas.openxmlformats.org/officeDocument/2006/relationships/slide" Target="/ppt/slides/slide5.xml" Id="rId10" /><Relationship Type="http://schemas.openxmlformats.org/officeDocument/2006/relationships/font" Target="/ppt/fonts/InterTightBlack-boldItalic.fntdata" Id="rId32" /><Relationship Type="http://schemas.openxmlformats.org/officeDocument/2006/relationships/slide" Target="/ppt/slides/slide8.xml" Id="rId13" /><Relationship Type="http://schemas.openxmlformats.org/officeDocument/2006/relationships/slide" Target="/ppt/slides/slide7.xml" Id="rId12" /><Relationship Type="http://schemas.openxmlformats.org/officeDocument/2006/relationships/slide" Target="/ppt/slides/slide10.xml" Id="rId15" /><Relationship Type="http://schemas.openxmlformats.org/officeDocument/2006/relationships/slide" Target="/ppt/slides/slide9.xml" Id="rId14" /><Relationship Type="http://schemas.openxmlformats.org/officeDocument/2006/relationships/slide" Target="/ppt/slides/slide12.xml" Id="rId17" /><Relationship Type="http://schemas.openxmlformats.org/officeDocument/2006/relationships/slide" Target="/ppt/slides/slide11.xml" Id="rId16" /><Relationship Type="http://schemas.openxmlformats.org/officeDocument/2006/relationships/slide" Target="/ppt/slides/slide14.xml" Id="rId19" /><Relationship Type="http://schemas.openxmlformats.org/officeDocument/2006/relationships/slide" Target="/ppt/slides/slide13.xml" Id="rId18" /></Relationships>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_rels/notesSlide18.xml.rels>&#65279;<?xml version="1.0" encoding="utf-8"?><Relationships xmlns="http://schemas.openxmlformats.org/package/2006/relationships"><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d19bfa1ea5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d19bfa1ea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500"/>
              <a:t>Redundant / redundancy: the inclusion of extra components which are not strictly necessary to functioning, in case of failure in other components.</a:t>
            </a:r>
            <a:endParaRPr sz="25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19bfa1ea5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19bfa1ea5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700">
                <a:solidFill>
                  <a:schemeClr val="dk1"/>
                </a:solidFill>
              </a:rPr>
              <a:t>AP CSP düzeyinde, internet </a:t>
            </a:r>
            <a:r>
              <a:rPr b="1" lang="en-GB" sz="1700">
                <a:solidFill>
                  <a:schemeClr val="dk1"/>
                </a:solidFill>
              </a:rPr>
              <a:t>paket anahtarlama (packet switching)</a:t>
            </a:r>
            <a:r>
              <a:rPr lang="en-GB" sz="1700">
                <a:solidFill>
                  <a:schemeClr val="dk1"/>
                </a:solidFill>
              </a:rPr>
              <a:t> kullanır; yani veriler küçük paketlere bölünür ve ağın bir kısmı çalışmazsa farklı yollardan hedefe ulaşabilir. Ayrıca </a:t>
            </a:r>
            <a:r>
              <a:rPr b="1" lang="en-GB" sz="1700">
                <a:solidFill>
                  <a:schemeClr val="dk1"/>
                </a:solidFill>
              </a:rPr>
              <a:t>yedeklilik (redundancy)</a:t>
            </a:r>
            <a:r>
              <a:rPr lang="en-GB" sz="1700">
                <a:solidFill>
                  <a:schemeClr val="dk1"/>
                </a:solidFill>
              </a:rPr>
              <a:t> ve Border Gateway Protocol gibi yönlendirme protokolleri sayesinde veri otomatik olarak alternatif yollara yönlendirilir ve iletişim kesilmez.</a:t>
            </a:r>
            <a:br>
              <a:rPr lang="en-GB" sz="1700">
                <a:solidFill>
                  <a:schemeClr val="dk1"/>
                </a:solidFill>
              </a:rPr>
            </a:br>
            <a:endParaRPr sz="17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GB" sz="1700">
                <a:solidFill>
                  <a:schemeClr val="dk1"/>
                </a:solidFill>
              </a:rPr>
              <a:t>The internet is designed to be fault tolerant, but there have been times when failures still caused major disruptions. For example, during the Facebook outage of 2021, a misconfiguration in routing (related to systems like the Border Gateway Protocol) took down Facebook, Instagram, and WhatsApp worldwide for hours, showing that parts of the internet can still fail despite built-in redundancy.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1a80612fd_16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1a80612fd_16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19bfa1ea5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d19bfa1ea5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800"/>
              <a:t>Space systems are machines like satellites or spacecraft that operate in space, far from Earth.</a:t>
            </a:r>
            <a:br>
              <a:rPr lang="en-GB" sz="1800"/>
            </a:br>
            <a:r>
              <a:rPr lang="en-GB" sz="1800"/>
              <a:t>They are fault tolerant because they have backup parts and systems in case something breaks, since repairs are usually impossible.</a:t>
            </a:r>
            <a:br>
              <a:rPr lang="en-GB" sz="1800"/>
            </a:br>
            <a:r>
              <a:rPr lang="en-GB" sz="1800"/>
              <a:t>This way, even if one component fails, the spacecraft can keep working and complete its mission safely.</a:t>
            </a:r>
            <a:endParaRPr sz="1800"/>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19bfa1ea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19bfa1ea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500"/>
              <a:t>Transportation systems are fault tolerant because they have backup mechanisms and safety rules that keep operations running even if part of the system fails. For example, trains stop automatically if signals fail, and roads or air traffic can be rerouted to avoid problems.</a:t>
            </a:r>
            <a:endParaRPr sz="1500"/>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19bfa1ea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19bfa1ea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500"/>
              <a:t>Software systems are fault tolerant because they can detect failures and automatically restart or switch tasks to working components. This ensures the application keeps running smoothly even if part of the system crashes.</a:t>
            </a:r>
            <a:endParaRPr sz="1500"/>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1a80612fd_16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1a80612fd_16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As you can see!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19bfa1ea5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19bfa1ea5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19bfa1ea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19bfa1ea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19bfa1ea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d19bfa1ea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19bfa1ea5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19bfa1ea5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19bfa1ea5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19bfa1ea5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19bfa1ea5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19bfa1ea5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19bfa1ea5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d19bfa1ea5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19bfa1ea5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19bfa1ea5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d19bfa1ea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d19bfa1ea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19bfa1ea5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d19bfa1ea5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11.xml" Id="rId11" /><Relationship Type="http://schemas.openxmlformats.org/officeDocument/2006/relationships/slideLayout" Target="/ppt/slideLayouts/slideLayout10.xml" Id="rId10" /><Relationship Type="http://schemas.openxmlformats.org/officeDocument/2006/relationships/theme" Target="/ppt/theme/theme1.xml" Id="rId12" /><Relationship Type="http://schemas.openxmlformats.org/officeDocument/2006/relationships/slideLayout" Target="/ppt/slideLayouts/slideLayout7.xml" Id="rId7" /><Relationship Type="http://schemas.openxmlformats.org/officeDocument/2006/relationships/slideLayout" Target="/ppt/slideLayouts/slideLayout8.xml" Id="rId8" /></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4" r:id="rId7"/>
    <p:sldLayoutId id="2147483655" r:id="rId8"/>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notesSlide" Target="/ppt/notesSlides/notesSlide1.xml" Id="rI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Id1" /><Relationship Type="http://schemas.openxmlformats.org/officeDocument/2006/relationships/notesSlide" Target="/ppt/notesSlides/notesSlide2.xml" Id="rId2" /><Relationship Type="http://schemas.openxmlformats.org/officeDocument/2006/relationships/image" Target="/ppt/media/image4.jpg" Id="rI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Id1" /><Relationship Type="http://schemas.openxmlformats.org/officeDocument/2006/relationships/notesSlide" Target="/ppt/notesSlides/notesSlide3.xml" Id="rId2" /><Relationship Type="http://schemas.openxmlformats.org/officeDocument/2006/relationships/image" Target="/ppt/media/image6.jpg" Id="rI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Id1" /><Relationship Type="http://schemas.openxmlformats.org/officeDocument/2006/relationships/notesSlide" Target="/ppt/notesSlides/notesSlide4.xml" Id="rId2" /><Relationship Type="http://schemas.openxmlformats.org/officeDocument/2006/relationships/image" Target="/ppt/media/image5.jpg" Id="rI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5.xml" Id="rId2" /><Relationship Type="http://schemas.openxmlformats.org/officeDocument/2006/relationships/image" Target="/ppt/media/image3.jpg" Id="rI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6.xml" Id="rId2" /><Relationship Type="http://schemas.openxmlformats.org/officeDocument/2006/relationships/image" Target="/ppt/media/image2.jpg" Id="rI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7.xml" Id="rId2" /><Relationship Type="http://schemas.openxmlformats.org/officeDocument/2006/relationships/image" Target="/ppt/media/image1.jpg" Id="rI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Id1" /><Relationship Type="http://schemas.openxmlformats.org/officeDocument/2006/relationships/notesSlide" Target="/ppt/notesSlides/notesSlide8.xml" Id="rI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notesSlide" Target="/ppt/notesSlides/notesSlide9.xml" Id="rId2" /><Relationship Type="http://schemas.openxmlformats.org/officeDocument/2006/relationships/image" Target="/ppt/media/image11.png" Id="rI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0.xml" Id="rId1" /><Relationship Type="http://schemas.openxmlformats.org/officeDocument/2006/relationships/notesSlide" Target="/ppt/notesSlides/notesSlide10.xml" Id="rId2" /><Relationship Type="http://schemas.openxmlformats.org/officeDocument/2006/relationships/image" Target="/ppt/media/image11.png" Id="rI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notesSlide" Target="/ppt/notesSlides/notesSlide11.xml" Id="rId2" /><Relationship Type="http://schemas.openxmlformats.org/officeDocument/2006/relationships/image" Target="/ppt/media/image9.png" Id="rI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0.xml" Id="rId1" /><Relationship Type="http://schemas.openxmlformats.org/officeDocument/2006/relationships/notesSlide" Target="/ppt/notesSlides/notesSlide12.xml" Id="rId2" /><Relationship Type="http://schemas.openxmlformats.org/officeDocument/2006/relationships/image" Target="/ppt/media/image9.png" Id="rId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notesSlide" Target="/ppt/notesSlides/notesSlide13.xml" Id="rId2" /><Relationship Type="http://schemas.openxmlformats.org/officeDocument/2006/relationships/image" Target="/ppt/media/image7.png" Id="rI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0.xml" Id="rId1" /><Relationship Type="http://schemas.openxmlformats.org/officeDocument/2006/relationships/notesSlide" Target="/ppt/notesSlides/notesSlide14.xml" Id="rId2" /><Relationship Type="http://schemas.openxmlformats.org/officeDocument/2006/relationships/image" Target="/ppt/media/image7.png" Id="rId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notesSlide" Target="/ppt/notesSlides/notesSlide15.xml" Id="rId2" /><Relationship Type="http://schemas.openxmlformats.org/officeDocument/2006/relationships/image" Target="/ppt/media/image8.png" Id="rI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0.xml" Id="rId1" /><Relationship Type="http://schemas.openxmlformats.org/officeDocument/2006/relationships/notesSlide" Target="/ppt/notesSlides/notesSlide16.xml" Id="rId2" /><Relationship Type="http://schemas.openxmlformats.org/officeDocument/2006/relationships/image" Target="/ppt/media/image8.png" Id="rI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notesSlide" Target="/ppt/notesSlides/notesSlide17.xml" Id="rId2" /><Relationship Type="http://schemas.openxmlformats.org/officeDocument/2006/relationships/image" Target="/ppt/media/image10.png" Id="rId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0.xml" Id="rId1" /><Relationship Type="http://schemas.openxmlformats.org/officeDocument/2006/relationships/notesSlide" Target="/ppt/notesSlides/notesSlide18.xml" Id="rId2" /><Relationship Type="http://schemas.openxmlformats.org/officeDocument/2006/relationships/image" Target="/ppt/media/image10.png" Id="rId3" /></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4587"/>
        </a:solidFill>
      </p:bgPr>
    </p:bg>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AP CSP 4.2 </a:t>
            </a:r>
            <a:endParaRPr/>
          </a:p>
          <a:p>
            <a:pPr indent="0" lvl="0" marL="0" rtl="0" algn="ctr">
              <a:spcBef>
                <a:spcPts val="0"/>
              </a:spcBef>
              <a:spcAft>
                <a:spcPts val="0"/>
              </a:spcAft>
              <a:buNone/>
            </a:pPr>
            <a:r>
              <a:rPr lang="en-GB"/>
              <a:t>Fault </a:t>
            </a:r>
            <a:r>
              <a:rPr lang="en-GB"/>
              <a:t>Tolerance</a:t>
            </a:r>
            <a:endParaRPr/>
          </a:p>
        </p:txBody>
      </p:sp>
      <p:sp>
        <p:nvSpPr>
          <p:cNvPr id="57" name="Google Shape;57;p1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solidFill>
                  <a:schemeClr val="lt1"/>
                </a:solidFill>
                <a:latin typeface="Inter Tight Black"/>
                <a:ea typeface="Inter Tight Black"/>
                <a:cs typeface="Inter Tight Black"/>
                <a:sym typeface="Inter Tight Black"/>
              </a:rPr>
              <a:t>Zeynep Bade Başlıgil</a:t>
            </a:r>
            <a:endParaRPr>
              <a:solidFill>
                <a:schemeClr val="lt1"/>
              </a:solidFill>
              <a:latin typeface="Inter Tight Black"/>
              <a:ea typeface="Inter Tight Black"/>
              <a:cs typeface="Inter Tight Black"/>
              <a:sym typeface="Inter Tight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is Fault Tolerance? - General Overview</a:t>
            </a:r>
            <a:endParaRPr/>
          </a:p>
        </p:txBody>
      </p:sp>
      <p:sp>
        <p:nvSpPr>
          <p:cNvPr id="63" name="Google Shape;63;p14"/>
          <p:cNvSpPr txBox="1"/>
          <p:nvPr>
            <p:ph idx="1" type="body"/>
          </p:nvPr>
        </p:nvSpPr>
        <p:spPr>
          <a:xfrm>
            <a:off x="311700" y="1047863"/>
            <a:ext cx="8378100" cy="384900"/>
          </a:xfrm>
          <a:prstGeom prst="rect">
            <a:avLst/>
          </a:prstGeom>
        </p:spPr>
        <p:txBody>
          <a:bodyPr anchorCtr="0" anchor="t" bIns="91425" lIns="91425" spcFirstLastPara="1" rIns="91425" wrap="square" tIns="91425">
            <a:noAutofit/>
          </a:bodyPr>
          <a:lstStyle/>
          <a:p>
            <a:pPr indent="0" lvl="0" marL="0" rtl="0" algn="l">
              <a:spcBef>
                <a:spcPts val="1800"/>
              </a:spcBef>
              <a:spcAft>
                <a:spcPts val="600"/>
              </a:spcAft>
              <a:buSzPts val="935"/>
              <a:buNone/>
            </a:pPr>
            <a:r>
              <a:rPr b="1" i="1" lang="en-GB" sz="1177">
                <a:solidFill>
                  <a:schemeClr val="accent4"/>
                </a:solidFill>
                <a:latin typeface="Lexend"/>
                <a:ea typeface="Lexend"/>
                <a:cs typeface="Lexend"/>
                <a:sym typeface="Lexend"/>
              </a:rPr>
              <a:t>Fault Tolerance </a:t>
            </a:r>
            <a:r>
              <a:rPr lang="en-GB" sz="1177">
                <a:solidFill>
                  <a:srgbClr val="1F1F1F"/>
                </a:solidFill>
                <a:latin typeface="Lexend"/>
                <a:ea typeface="Lexend"/>
                <a:cs typeface="Lexend"/>
                <a:sym typeface="Lexend"/>
              </a:rPr>
              <a:t>is a system's ability to continue operating uninterrupted despite the failure of one or more of its components.</a:t>
            </a:r>
            <a:endParaRPr sz="1729">
              <a:solidFill>
                <a:srgbClr val="1F1F1F"/>
              </a:solidFill>
              <a:latin typeface="Lexend"/>
              <a:ea typeface="Lexend"/>
              <a:cs typeface="Lexend"/>
              <a:sym typeface="Lexend"/>
            </a:endParaRPr>
          </a:p>
        </p:txBody>
      </p:sp>
      <p:sp>
        <p:nvSpPr>
          <p:cNvPr id="64" name="Google Shape;64;p14"/>
          <p:cNvSpPr txBox="1"/>
          <p:nvPr>
            <p:ph idx="1" type="body"/>
          </p:nvPr>
        </p:nvSpPr>
        <p:spPr>
          <a:xfrm>
            <a:off x="139000" y="3632025"/>
            <a:ext cx="2887800" cy="1255200"/>
          </a:xfrm>
          <a:prstGeom prst="rect">
            <a:avLst/>
          </a:prstGeom>
        </p:spPr>
        <p:txBody>
          <a:bodyPr anchorCtr="0" anchor="t" bIns="91425" lIns="91425" spcFirstLastPara="1" rIns="91425" wrap="square" tIns="91425">
            <a:normAutofit/>
          </a:bodyPr>
          <a:lstStyle/>
          <a:p>
            <a:pPr indent="0" lvl="0" marL="0" rtl="0" algn="l">
              <a:spcBef>
                <a:spcPts val="1800"/>
              </a:spcBef>
              <a:spcAft>
                <a:spcPts val="600"/>
              </a:spcAft>
              <a:buNone/>
            </a:pPr>
            <a:r>
              <a:rPr lang="en-GB" sz="1150">
                <a:solidFill>
                  <a:srgbClr val="1F1F1F"/>
                </a:solidFill>
                <a:latin typeface="Lexend"/>
                <a:ea typeface="Lexend"/>
                <a:cs typeface="Lexend"/>
                <a:sym typeface="Lexend"/>
              </a:rPr>
              <a:t>For a system or network to be fault tolerant </a:t>
            </a:r>
            <a:r>
              <a:rPr i="1" lang="en-GB" sz="1150">
                <a:solidFill>
                  <a:srgbClr val="1F1F1F"/>
                </a:solidFill>
                <a:latin typeface="Lexend"/>
                <a:ea typeface="Lexend"/>
                <a:cs typeface="Lexend"/>
                <a:sym typeface="Lexend"/>
              </a:rPr>
              <a:t>,aka be able to function even if some components fail, </a:t>
            </a:r>
            <a:r>
              <a:rPr lang="en-GB" sz="1150">
                <a:solidFill>
                  <a:srgbClr val="1F1F1F"/>
                </a:solidFill>
                <a:latin typeface="Lexend"/>
                <a:ea typeface="Lexend"/>
                <a:cs typeface="Lexend"/>
                <a:sym typeface="Lexend"/>
              </a:rPr>
              <a:t>that system -or network- has to be </a:t>
            </a:r>
            <a:r>
              <a:rPr i="1" lang="en-GB" sz="1150" u="sng">
                <a:solidFill>
                  <a:srgbClr val="1F1F1F"/>
                </a:solidFill>
                <a:latin typeface="Lexend"/>
                <a:ea typeface="Lexend"/>
                <a:cs typeface="Lexend"/>
                <a:sym typeface="Lexend"/>
              </a:rPr>
              <a:t>redundant</a:t>
            </a:r>
            <a:r>
              <a:rPr lang="en-GB" sz="1150">
                <a:solidFill>
                  <a:srgbClr val="1F1F1F"/>
                </a:solidFill>
                <a:latin typeface="Lexend"/>
                <a:ea typeface="Lexend"/>
                <a:cs typeface="Lexend"/>
                <a:sym typeface="Lexend"/>
              </a:rPr>
              <a:t>. </a:t>
            </a:r>
            <a:endParaRPr sz="1150">
              <a:solidFill>
                <a:srgbClr val="1F1F1F"/>
              </a:solidFill>
              <a:latin typeface="Lexend"/>
              <a:ea typeface="Lexend"/>
              <a:cs typeface="Lexend"/>
              <a:sym typeface="Lexend"/>
            </a:endParaRPr>
          </a:p>
        </p:txBody>
      </p:sp>
      <p:sp>
        <p:nvSpPr>
          <p:cNvPr id="65" name="Google Shape;65;p14"/>
          <p:cNvSpPr txBox="1"/>
          <p:nvPr>
            <p:ph idx="1" type="body"/>
          </p:nvPr>
        </p:nvSpPr>
        <p:spPr>
          <a:xfrm>
            <a:off x="6116775" y="3038275"/>
            <a:ext cx="2570100" cy="1931100"/>
          </a:xfrm>
          <a:prstGeom prst="rect">
            <a:avLst/>
          </a:prstGeom>
        </p:spPr>
        <p:txBody>
          <a:bodyPr anchorCtr="0" anchor="t" bIns="91425" lIns="91425" spcFirstLastPara="1" rIns="91425" wrap="square" tIns="91425">
            <a:normAutofit lnSpcReduction="10000"/>
          </a:bodyPr>
          <a:lstStyle/>
          <a:p>
            <a:pPr indent="-301625" lvl="0" marL="457200" rtl="0" algn="l">
              <a:spcBef>
                <a:spcPts val="1800"/>
              </a:spcBef>
              <a:spcAft>
                <a:spcPts val="0"/>
              </a:spcAft>
              <a:buClr>
                <a:srgbClr val="FF0000"/>
              </a:buClr>
              <a:buSzPts val="1150"/>
              <a:buFont typeface="Lexend"/>
              <a:buChar char="+"/>
            </a:pPr>
            <a:r>
              <a:rPr lang="en-GB" sz="1150">
                <a:solidFill>
                  <a:srgbClr val="FF0000"/>
                </a:solidFill>
                <a:latin typeface="Lexend"/>
                <a:ea typeface="Lexend"/>
                <a:cs typeface="Lexend"/>
                <a:sym typeface="Lexend"/>
              </a:rPr>
              <a:t>Redundancy can be achieved by having a large number of pathways between connections in networks.</a:t>
            </a:r>
            <a:endParaRPr sz="1150">
              <a:solidFill>
                <a:srgbClr val="FF0000"/>
              </a:solidFill>
              <a:latin typeface="Lexend"/>
              <a:ea typeface="Lexend"/>
              <a:cs typeface="Lexend"/>
              <a:sym typeface="Lexend"/>
            </a:endParaRPr>
          </a:p>
          <a:p>
            <a:pPr indent="-301625" lvl="0" marL="457200" rtl="0" algn="l">
              <a:spcBef>
                <a:spcPts val="0"/>
              </a:spcBef>
              <a:spcAft>
                <a:spcPts val="0"/>
              </a:spcAft>
              <a:buClr>
                <a:srgbClr val="FF0000"/>
              </a:buClr>
              <a:buSzPts val="1150"/>
              <a:buFont typeface="Lexend"/>
              <a:buChar char="+"/>
            </a:pPr>
            <a:r>
              <a:rPr lang="en-GB" sz="1150">
                <a:solidFill>
                  <a:srgbClr val="FF0000"/>
                </a:solidFill>
                <a:latin typeface="Lexend"/>
                <a:ea typeface="Lexend"/>
                <a:cs typeface="Lexend"/>
                <a:sym typeface="Lexend"/>
              </a:rPr>
              <a:t>You can add more and more devices to your network as it makes the network stronger!!</a:t>
            </a:r>
            <a:endParaRPr sz="1150">
              <a:solidFill>
                <a:srgbClr val="FF0000"/>
              </a:solidFill>
              <a:latin typeface="Lexend"/>
              <a:ea typeface="Lexend"/>
              <a:cs typeface="Lexend"/>
              <a:sym typeface="Lexend"/>
            </a:endParaRPr>
          </a:p>
        </p:txBody>
      </p:sp>
      <p:sp>
        <p:nvSpPr>
          <p:cNvPr id="66" name="Google Shape;66;p14"/>
          <p:cNvSpPr txBox="1"/>
          <p:nvPr>
            <p:ph idx="1" type="body"/>
          </p:nvPr>
        </p:nvSpPr>
        <p:spPr>
          <a:xfrm>
            <a:off x="246975" y="1873550"/>
            <a:ext cx="3002400" cy="19311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GB" sz="1150">
                <a:solidFill>
                  <a:schemeClr val="accent4"/>
                </a:solidFill>
                <a:latin typeface="Lexend"/>
                <a:ea typeface="Lexend"/>
                <a:cs typeface="Lexend"/>
                <a:sym typeface="Lexend"/>
              </a:rPr>
              <a:t>Learning Objective: </a:t>
            </a:r>
            <a:endParaRPr b="1" sz="1150">
              <a:solidFill>
                <a:schemeClr val="accent4"/>
              </a:solidFill>
              <a:latin typeface="Lexend"/>
              <a:ea typeface="Lexend"/>
              <a:cs typeface="Lexend"/>
              <a:sym typeface="Lexend"/>
            </a:endParaRPr>
          </a:p>
          <a:p>
            <a:pPr indent="0" lvl="0" marL="0" rtl="0" algn="l">
              <a:spcBef>
                <a:spcPts val="1800"/>
              </a:spcBef>
              <a:spcAft>
                <a:spcPts val="600"/>
              </a:spcAft>
              <a:buNone/>
            </a:pPr>
            <a:r>
              <a:rPr b="1" lang="en-GB" sz="1150">
                <a:solidFill>
                  <a:srgbClr val="1F1F1F"/>
                </a:solidFill>
                <a:latin typeface="Lexend"/>
                <a:ea typeface="Lexend"/>
                <a:cs typeface="Lexend"/>
                <a:sym typeface="Lexend"/>
              </a:rPr>
              <a:t>In this part of the Big Idea you should be able to explain how a system/network is fault tolerant</a:t>
            </a:r>
            <a:endParaRPr b="1" sz="1150">
              <a:solidFill>
                <a:srgbClr val="1F1F1F"/>
              </a:solidFill>
              <a:latin typeface="Lexend"/>
              <a:ea typeface="Lexend"/>
              <a:cs typeface="Lexend"/>
              <a:sym typeface="Lexend"/>
            </a:endParaRPr>
          </a:p>
        </p:txBody>
      </p:sp>
      <p:sp>
        <p:nvSpPr>
          <p:cNvPr id="67" name="Google Shape;67;p14"/>
          <p:cNvSpPr txBox="1"/>
          <p:nvPr>
            <p:ph idx="1" type="body"/>
          </p:nvPr>
        </p:nvSpPr>
        <p:spPr>
          <a:xfrm>
            <a:off x="6116775" y="1462900"/>
            <a:ext cx="2570100" cy="1344600"/>
          </a:xfrm>
          <a:prstGeom prst="rect">
            <a:avLst/>
          </a:prstGeom>
        </p:spPr>
        <p:txBody>
          <a:bodyPr anchorCtr="0" anchor="t" bIns="91425" lIns="91425" spcFirstLastPara="1" rIns="91425" wrap="square" tIns="91425">
            <a:noAutofit/>
          </a:bodyPr>
          <a:lstStyle/>
          <a:p>
            <a:pPr indent="-301625" lvl="0" marL="457200" rtl="0" algn="l">
              <a:spcBef>
                <a:spcPts val="1800"/>
              </a:spcBef>
              <a:spcAft>
                <a:spcPts val="0"/>
              </a:spcAft>
              <a:buClr>
                <a:srgbClr val="4A86E8"/>
              </a:buClr>
              <a:buSzPts val="1150"/>
              <a:buFont typeface="Lexend"/>
              <a:buChar char="-"/>
            </a:pPr>
            <a:r>
              <a:rPr lang="en-GB" sz="1150">
                <a:solidFill>
                  <a:srgbClr val="4A86E8"/>
                </a:solidFill>
                <a:latin typeface="Lexend"/>
                <a:ea typeface="Lexend"/>
                <a:cs typeface="Lexend"/>
                <a:sym typeface="Lexend"/>
              </a:rPr>
              <a:t>Although in almost all cases redundancy is necessary for fault tolerance it can take up a lot of additional resources thus turning into a setback.</a:t>
            </a:r>
            <a:endParaRPr sz="1150">
              <a:solidFill>
                <a:srgbClr val="4A86E8"/>
              </a:solidFill>
              <a:latin typeface="Lexend"/>
              <a:ea typeface="Lexend"/>
              <a:cs typeface="Lexend"/>
              <a:sym typeface="Lexend"/>
            </a:endParaRPr>
          </a:p>
          <a:p>
            <a:pPr indent="0" lvl="0" marL="0" rtl="0" algn="l">
              <a:spcBef>
                <a:spcPts val="1800"/>
              </a:spcBef>
              <a:spcAft>
                <a:spcPts val="0"/>
              </a:spcAft>
              <a:buNone/>
            </a:pPr>
            <a:r>
              <a:t/>
            </a:r>
            <a:endParaRPr sz="1150">
              <a:solidFill>
                <a:srgbClr val="4A86E8"/>
              </a:solidFill>
              <a:latin typeface="Lexend"/>
              <a:ea typeface="Lexend"/>
              <a:cs typeface="Lexend"/>
              <a:sym typeface="Lexend"/>
            </a:endParaRPr>
          </a:p>
          <a:p>
            <a:pPr indent="0" lvl="0" marL="0" rtl="0" algn="l">
              <a:spcBef>
                <a:spcPts val="1800"/>
              </a:spcBef>
              <a:spcAft>
                <a:spcPts val="600"/>
              </a:spcAft>
              <a:buNone/>
            </a:pPr>
            <a:r>
              <a:t/>
            </a:r>
            <a:endParaRPr sz="1150">
              <a:solidFill>
                <a:srgbClr val="4A86E8"/>
              </a:solidFill>
              <a:latin typeface="Lexend"/>
              <a:ea typeface="Lexend"/>
              <a:cs typeface="Lexend"/>
              <a:sym typeface="Lexend"/>
            </a:endParaRPr>
          </a:p>
        </p:txBody>
      </p:sp>
      <p:pic>
        <p:nvPicPr>
          <p:cNvPr descr="create a suitable image for this page" id="68" name="Google Shape;68;p14"/>
          <p:cNvPicPr preferRelativeResize="0"/>
          <p:nvPr/>
        </p:nvPicPr>
        <p:blipFill rotWithShape="1">
          <a:blip r:embed="rId3">
            <a:alphaModFix/>
          </a:blip>
          <a:srcRect b="16325" l="0" r="0" t="0"/>
          <a:stretch/>
        </p:blipFill>
        <p:spPr>
          <a:xfrm>
            <a:off x="3105500" y="1691975"/>
            <a:ext cx="3051124" cy="2552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descr="Beautify this slide" id="73" name="Google Shape;73;p1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descr="Beautify this slide" id="78" name="Google Shape;78;p1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490250" y="526350"/>
            <a:ext cx="3293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Real World Example #3</a:t>
            </a:r>
            <a:endParaRPr/>
          </a:p>
        </p:txBody>
      </p:sp>
      <p:sp>
        <p:nvSpPr>
          <p:cNvPr id="84" name="Google Shape;84;p17"/>
          <p:cNvSpPr txBox="1"/>
          <p:nvPr>
            <p:ph idx="4294967295" type="body"/>
          </p:nvPr>
        </p:nvSpPr>
        <p:spPr>
          <a:xfrm>
            <a:off x="4321500" y="1152475"/>
            <a:ext cx="4510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rgbClr val="FAFAFA"/>
                </a:solidFill>
              </a:rPr>
              <a:t>Space Systems</a:t>
            </a:r>
            <a:endParaRPr>
              <a:solidFill>
                <a:srgbClr val="FAFAFA"/>
              </a:solidFill>
            </a:endParaRPr>
          </a:p>
        </p:txBody>
      </p:sp>
      <p:pic>
        <p:nvPicPr>
          <p:cNvPr descr="Beautify this slide" id="85" name="Google Shape;85;p17"/>
          <p:cNvPicPr preferRelativeResize="0"/>
          <p:nvPr/>
        </p:nvPicPr>
        <p:blipFill>
          <a:blip r:embed="rId3">
            <a:alphaModFix/>
          </a:blip>
          <a:stretch>
            <a:fillRect/>
          </a:stretch>
        </p:blipFill>
        <p:spPr>
          <a:xfrm>
            <a:off x="-48125" y="-7"/>
            <a:ext cx="9240252"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490250" y="526350"/>
            <a:ext cx="3286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Real World Example #4</a:t>
            </a:r>
            <a:endParaRPr/>
          </a:p>
        </p:txBody>
      </p:sp>
      <p:sp>
        <p:nvSpPr>
          <p:cNvPr id="91" name="Google Shape;91;p18"/>
          <p:cNvSpPr txBox="1"/>
          <p:nvPr>
            <p:ph idx="4294967295" type="body"/>
          </p:nvPr>
        </p:nvSpPr>
        <p:spPr>
          <a:xfrm>
            <a:off x="4321500" y="1152475"/>
            <a:ext cx="4510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rgbClr val="FAFAFA"/>
                </a:solidFill>
              </a:rPr>
              <a:t>Transportation systems</a:t>
            </a:r>
            <a:endParaRPr>
              <a:solidFill>
                <a:srgbClr val="FAFAFA"/>
              </a:solidFill>
            </a:endParaRPr>
          </a:p>
        </p:txBody>
      </p:sp>
      <p:pic>
        <p:nvPicPr>
          <p:cNvPr descr="Beautify this slide" id="92" name="Google Shape;92;p18"/>
          <p:cNvPicPr preferRelativeResize="0"/>
          <p:nvPr/>
        </p:nvPicPr>
        <p:blipFill>
          <a:blip r:embed="rId3">
            <a:alphaModFix/>
          </a:blip>
          <a:stretch>
            <a:fillRect/>
          </a:stretch>
        </p:blipFill>
        <p:spPr>
          <a:xfrm>
            <a:off x="0" y="-7"/>
            <a:ext cx="9144000" cy="508992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490250" y="526350"/>
            <a:ext cx="3293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Real World Example #5</a:t>
            </a:r>
            <a:endParaRPr/>
          </a:p>
        </p:txBody>
      </p:sp>
      <p:sp>
        <p:nvSpPr>
          <p:cNvPr id="98" name="Google Shape;98;p19"/>
          <p:cNvSpPr txBox="1"/>
          <p:nvPr>
            <p:ph idx="4294967295" type="body"/>
          </p:nvPr>
        </p:nvSpPr>
        <p:spPr>
          <a:xfrm>
            <a:off x="4321500" y="1152475"/>
            <a:ext cx="4510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rgbClr val="FAFAFA"/>
                </a:solidFill>
              </a:rPr>
              <a:t>Software Systems</a:t>
            </a:r>
            <a:endParaRPr>
              <a:solidFill>
                <a:srgbClr val="FAFAFA"/>
              </a:solidFill>
            </a:endParaRPr>
          </a:p>
        </p:txBody>
      </p:sp>
      <p:pic>
        <p:nvPicPr>
          <p:cNvPr descr="Beautify this slide" id="99" name="Google Shape;99;p19"/>
          <p:cNvPicPr preferRelativeResize="0"/>
          <p:nvPr/>
        </p:nvPicPr>
        <p:blipFill>
          <a:blip r:embed="rId3">
            <a:alphaModFix/>
          </a:blip>
          <a:stretch>
            <a:fillRect/>
          </a:stretch>
        </p:blipFill>
        <p:spPr>
          <a:xfrm>
            <a:off x="0" y="-7"/>
            <a:ext cx="9240252"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265500" y="1375599"/>
            <a:ext cx="4045200" cy="1551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a:t>What do they all have in common?</a:t>
            </a:r>
            <a:endParaRPr/>
          </a:p>
        </p:txBody>
      </p:sp>
      <p:sp>
        <p:nvSpPr>
          <p:cNvPr id="105" name="Google Shape;105;p20"/>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1200"/>
              </a:spcBef>
              <a:spcAft>
                <a:spcPts val="0"/>
              </a:spcAft>
              <a:buNone/>
            </a:pPr>
            <a:r>
              <a:rPr b="1" i="1" lang="en-GB" sz="2500">
                <a:latin typeface="Arial"/>
                <a:ea typeface="Arial"/>
                <a:cs typeface="Arial"/>
                <a:sym typeface="Arial"/>
              </a:rPr>
              <a:t>Redundancy</a:t>
            </a:r>
            <a:r>
              <a:rPr i="1" lang="en-GB" sz="2500">
                <a:latin typeface="Arial"/>
                <a:ea typeface="Arial"/>
                <a:cs typeface="Arial"/>
                <a:sym typeface="Arial"/>
              </a:rPr>
              <a:t> </a:t>
            </a:r>
            <a:endParaRPr i="1" sz="2500">
              <a:latin typeface="Arial"/>
              <a:ea typeface="Arial"/>
              <a:cs typeface="Arial"/>
              <a:sym typeface="Arial"/>
            </a:endParaRPr>
          </a:p>
          <a:p>
            <a:pPr indent="0" lvl="0" marL="0" rtl="0" algn="l">
              <a:spcBef>
                <a:spcPts val="1200"/>
              </a:spcBef>
              <a:spcAft>
                <a:spcPts val="0"/>
              </a:spcAft>
              <a:buNone/>
            </a:pPr>
            <a:r>
              <a:rPr b="1" lang="en-GB" sz="2500">
                <a:latin typeface="Arial"/>
                <a:ea typeface="Arial"/>
                <a:cs typeface="Arial"/>
                <a:sym typeface="Arial"/>
              </a:rPr>
              <a:t>Failover mechanisms</a:t>
            </a:r>
            <a:endParaRPr sz="2500">
              <a:latin typeface="Arial"/>
              <a:ea typeface="Arial"/>
              <a:cs typeface="Arial"/>
              <a:sym typeface="Arial"/>
            </a:endParaRPr>
          </a:p>
          <a:p>
            <a:pPr indent="0" lvl="0" marL="0" rtl="0" algn="l">
              <a:spcBef>
                <a:spcPts val="1200"/>
              </a:spcBef>
              <a:spcAft>
                <a:spcPts val="1200"/>
              </a:spcAft>
              <a:buNone/>
            </a:pPr>
            <a:r>
              <a:t/>
            </a:r>
            <a:endParaRPr sz="2500">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931175"/>
            <a:ext cx="8264700" cy="3995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5100"/>
              <a:t>Example Question #1</a:t>
            </a:r>
            <a:endParaRPr sz="5100"/>
          </a:p>
        </p:txBody>
      </p:sp>
      <p:grpSp>
        <p:nvGrpSpPr>
          <p:cNvPr id="111" name="Google Shape;111;p21"/>
          <p:cNvGrpSpPr/>
          <p:nvPr/>
        </p:nvGrpSpPr>
        <p:grpSpPr>
          <a:xfrm>
            <a:off x="872045" y="416250"/>
            <a:ext cx="7755105" cy="3402824"/>
            <a:chOff x="872045" y="416250"/>
            <a:chExt cx="7755105" cy="3402824"/>
          </a:xfrm>
        </p:grpSpPr>
        <p:pic>
          <p:nvPicPr>
            <p:cNvPr id="112" name="Google Shape;112;p21" title="Screenshot 2026-03-22 at 23.51.14.png"/>
            <p:cNvPicPr preferRelativeResize="0"/>
            <p:nvPr/>
          </p:nvPicPr>
          <p:blipFill>
            <a:blip r:embed="rId3">
              <a:alphaModFix/>
            </a:blip>
            <a:stretch>
              <a:fillRect/>
            </a:stretch>
          </p:blipFill>
          <p:spPr>
            <a:xfrm>
              <a:off x="872045" y="416250"/>
              <a:ext cx="7755074" cy="3402824"/>
            </a:xfrm>
            <a:prstGeom prst="rect">
              <a:avLst/>
            </a:prstGeom>
            <a:noFill/>
            <a:ln>
              <a:noFill/>
            </a:ln>
          </p:spPr>
        </p:pic>
        <p:sp>
          <p:nvSpPr>
            <p:cNvPr id="113" name="Google Shape;113;p21"/>
            <p:cNvSpPr/>
            <p:nvPr/>
          </p:nvSpPr>
          <p:spPr>
            <a:xfrm>
              <a:off x="7147550" y="416250"/>
              <a:ext cx="1479600" cy="85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0"/>
            <a:ext cx="8520600" cy="1980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6900"/>
              <a:t>Solution </a:t>
            </a:r>
            <a:endParaRPr sz="6900"/>
          </a:p>
        </p:txBody>
      </p:sp>
      <p:grpSp>
        <p:nvGrpSpPr>
          <p:cNvPr id="119" name="Google Shape;119;p22"/>
          <p:cNvGrpSpPr/>
          <p:nvPr/>
        </p:nvGrpSpPr>
        <p:grpSpPr>
          <a:xfrm>
            <a:off x="694445" y="1463450"/>
            <a:ext cx="7755105" cy="3402824"/>
            <a:chOff x="872045" y="416250"/>
            <a:chExt cx="7755105" cy="3402824"/>
          </a:xfrm>
        </p:grpSpPr>
        <p:pic>
          <p:nvPicPr>
            <p:cNvPr id="120" name="Google Shape;120;p22" title="Screenshot 2026-03-22 at 23.51.14.png"/>
            <p:cNvPicPr preferRelativeResize="0"/>
            <p:nvPr/>
          </p:nvPicPr>
          <p:blipFill>
            <a:blip r:embed="rId3">
              <a:alphaModFix/>
            </a:blip>
            <a:stretch>
              <a:fillRect/>
            </a:stretch>
          </p:blipFill>
          <p:spPr>
            <a:xfrm>
              <a:off x="872045" y="416250"/>
              <a:ext cx="7755074" cy="3402824"/>
            </a:xfrm>
            <a:prstGeom prst="rect">
              <a:avLst/>
            </a:prstGeom>
            <a:noFill/>
            <a:ln>
              <a:noFill/>
            </a:ln>
          </p:spPr>
        </p:pic>
        <p:sp>
          <p:nvSpPr>
            <p:cNvPr id="121" name="Google Shape;121;p22"/>
            <p:cNvSpPr/>
            <p:nvPr/>
          </p:nvSpPr>
          <p:spPr>
            <a:xfrm>
              <a:off x="7147550" y="416250"/>
              <a:ext cx="1479600" cy="85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
        <p:nvSpPr>
          <p:cNvPr id="122" name="Google Shape;122;p22"/>
          <p:cNvSpPr/>
          <p:nvPr/>
        </p:nvSpPr>
        <p:spPr>
          <a:xfrm>
            <a:off x="251275" y="3492225"/>
            <a:ext cx="533400" cy="324000"/>
          </a:xfrm>
          <a:prstGeom prst="right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2480550"/>
            <a:ext cx="9312000" cy="244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5100"/>
              <a:t>Example Question #2:</a:t>
            </a:r>
            <a:endParaRPr sz="5100"/>
          </a:p>
        </p:txBody>
      </p:sp>
      <p:grpSp>
        <p:nvGrpSpPr>
          <p:cNvPr id="128" name="Google Shape;128;p23"/>
          <p:cNvGrpSpPr/>
          <p:nvPr/>
        </p:nvGrpSpPr>
        <p:grpSpPr>
          <a:xfrm>
            <a:off x="495300" y="323850"/>
            <a:ext cx="7328450" cy="3628650"/>
            <a:chOff x="495300" y="323850"/>
            <a:chExt cx="7328450" cy="3628650"/>
          </a:xfrm>
        </p:grpSpPr>
        <p:pic>
          <p:nvPicPr>
            <p:cNvPr id="129" name="Google Shape;129;p23" title="Screenshot 2026-03-22 at 23.53.48.png"/>
            <p:cNvPicPr preferRelativeResize="0"/>
            <p:nvPr/>
          </p:nvPicPr>
          <p:blipFill>
            <a:blip r:embed="rId3">
              <a:alphaModFix/>
            </a:blip>
            <a:stretch>
              <a:fillRect/>
            </a:stretch>
          </p:blipFill>
          <p:spPr>
            <a:xfrm>
              <a:off x="495300" y="323850"/>
              <a:ext cx="7328300" cy="3628650"/>
            </a:xfrm>
            <a:prstGeom prst="rect">
              <a:avLst/>
            </a:prstGeom>
            <a:noFill/>
            <a:ln>
              <a:noFill/>
            </a:ln>
          </p:spPr>
        </p:pic>
        <p:sp>
          <p:nvSpPr>
            <p:cNvPr id="130" name="Google Shape;130;p23"/>
            <p:cNvSpPr/>
            <p:nvPr/>
          </p:nvSpPr>
          <p:spPr>
            <a:xfrm>
              <a:off x="6471050" y="323850"/>
              <a:ext cx="13527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280400"/>
            <a:ext cx="8520600" cy="1980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6900"/>
              <a:t>Solution </a:t>
            </a:r>
            <a:endParaRPr sz="6900"/>
          </a:p>
        </p:txBody>
      </p:sp>
      <p:sp>
        <p:nvSpPr>
          <p:cNvPr id="136" name="Google Shape;136;p24"/>
          <p:cNvSpPr txBox="1"/>
          <p:nvPr>
            <p:ph idx="1" type="body"/>
          </p:nvPr>
        </p:nvSpPr>
        <p:spPr>
          <a:xfrm>
            <a:off x="5909075" y="607350"/>
            <a:ext cx="2857800" cy="963900"/>
          </a:xfrm>
          <a:prstGeom prst="rect">
            <a:avLst/>
          </a:prstGeom>
        </p:spPr>
        <p:txBody>
          <a:bodyPr anchorCtr="0" anchor="t" bIns="91425" lIns="91425" spcFirstLastPara="1" rIns="91425" wrap="square" tIns="91425">
            <a:normAutofit fontScale="62500"/>
          </a:bodyPr>
          <a:lstStyle/>
          <a:p>
            <a:pPr indent="0" lvl="0" marL="0" rtl="0" algn="ctr">
              <a:spcBef>
                <a:spcPts val="0"/>
              </a:spcBef>
              <a:spcAft>
                <a:spcPts val="1200"/>
              </a:spcAft>
              <a:buNone/>
            </a:pPr>
            <a:r>
              <a:rPr b="1" i="1" lang="en-GB">
                <a:solidFill>
                  <a:srgbClr val="FF0000"/>
                </a:solidFill>
              </a:rPr>
              <a:t>Tip: </a:t>
            </a:r>
            <a:r>
              <a:rPr b="1" i="1" lang="en-GB">
                <a:solidFill>
                  <a:srgbClr val="FF0000"/>
                </a:solidFill>
              </a:rPr>
              <a:t>in such questions </a:t>
            </a:r>
            <a:r>
              <a:rPr b="1" i="1" lang="en-GB">
                <a:solidFill>
                  <a:srgbClr val="FF0000"/>
                </a:solidFill>
              </a:rPr>
              <a:t>count the number of connections each points have and add a new connection to the point with the least amount of connections!</a:t>
            </a:r>
            <a:endParaRPr b="1" i="1">
              <a:solidFill>
                <a:srgbClr val="FF0000"/>
              </a:solidFill>
            </a:endParaRPr>
          </a:p>
        </p:txBody>
      </p:sp>
      <p:grpSp>
        <p:nvGrpSpPr>
          <p:cNvPr id="137" name="Google Shape;137;p24"/>
          <p:cNvGrpSpPr/>
          <p:nvPr/>
        </p:nvGrpSpPr>
        <p:grpSpPr>
          <a:xfrm>
            <a:off x="1308486" y="1723566"/>
            <a:ext cx="6791275" cy="3362670"/>
            <a:chOff x="495300" y="323850"/>
            <a:chExt cx="7328450" cy="3628650"/>
          </a:xfrm>
        </p:grpSpPr>
        <p:pic>
          <p:nvPicPr>
            <p:cNvPr id="138" name="Google Shape;138;p24" title="Screenshot 2026-03-22 at 23.53.48.png"/>
            <p:cNvPicPr preferRelativeResize="0"/>
            <p:nvPr/>
          </p:nvPicPr>
          <p:blipFill>
            <a:blip r:embed="rId3">
              <a:alphaModFix/>
            </a:blip>
            <a:stretch>
              <a:fillRect/>
            </a:stretch>
          </p:blipFill>
          <p:spPr>
            <a:xfrm>
              <a:off x="495300" y="323850"/>
              <a:ext cx="7328300" cy="3628650"/>
            </a:xfrm>
            <a:prstGeom prst="rect">
              <a:avLst/>
            </a:prstGeom>
            <a:noFill/>
            <a:ln>
              <a:noFill/>
            </a:ln>
          </p:spPr>
        </p:pic>
        <p:sp>
          <p:nvSpPr>
            <p:cNvPr id="139" name="Google Shape;139;p24"/>
            <p:cNvSpPr/>
            <p:nvPr/>
          </p:nvSpPr>
          <p:spPr>
            <a:xfrm>
              <a:off x="6471050" y="323850"/>
              <a:ext cx="1352700" cy="664500"/>
            </a:xfrm>
            <a:prstGeom prst="rect">
              <a:avLst/>
            </a:prstGeom>
            <a:solidFill>
              <a:schemeClr val="lt1"/>
            </a:solidFill>
            <a:ln>
              <a:noFill/>
            </a:ln>
          </p:spPr>
          <p:txBody>
            <a:bodyPr anchorCtr="0" anchor="ctr" bIns="84725" lIns="84725" spcFirstLastPara="1" rIns="84725" wrap="square" tIns="84725">
              <a:noAutofit/>
            </a:bodyPr>
            <a:lstStyle/>
            <a:p>
              <a:pPr indent="0" lvl="0" marL="0" rtl="0" algn="ctr">
                <a:spcBef>
                  <a:spcPts val="0"/>
                </a:spcBef>
                <a:spcAft>
                  <a:spcPts val="0"/>
                </a:spcAft>
                <a:buNone/>
              </a:pPr>
              <a:r>
                <a:t/>
              </a:r>
              <a:endParaRPr sz="1297">
                <a:latin typeface="Proxima Nova"/>
                <a:ea typeface="Proxima Nova"/>
                <a:cs typeface="Proxima Nova"/>
                <a:sym typeface="Proxima Nova"/>
              </a:endParaRPr>
            </a:p>
          </p:txBody>
        </p:sp>
      </p:grpSp>
      <p:sp>
        <p:nvSpPr>
          <p:cNvPr id="140" name="Google Shape;140;p24"/>
          <p:cNvSpPr/>
          <p:nvPr/>
        </p:nvSpPr>
        <p:spPr>
          <a:xfrm>
            <a:off x="888850" y="2404550"/>
            <a:ext cx="483000" cy="211800"/>
          </a:xfrm>
          <a:prstGeom prst="right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00" y="2480550"/>
            <a:ext cx="8351400" cy="244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5100"/>
              <a:t>Example Question #3:</a:t>
            </a:r>
            <a:endParaRPr sz="5100"/>
          </a:p>
        </p:txBody>
      </p:sp>
      <p:grpSp>
        <p:nvGrpSpPr>
          <p:cNvPr id="146" name="Google Shape;146;p25"/>
          <p:cNvGrpSpPr/>
          <p:nvPr/>
        </p:nvGrpSpPr>
        <p:grpSpPr>
          <a:xfrm>
            <a:off x="510675" y="444375"/>
            <a:ext cx="7549527" cy="3343127"/>
            <a:chOff x="510675" y="444375"/>
            <a:chExt cx="7549527" cy="3343127"/>
          </a:xfrm>
        </p:grpSpPr>
        <p:pic>
          <p:nvPicPr>
            <p:cNvPr id="147" name="Google Shape;147;p25" title="Screenshot 2026-03-22 at 23.57.32.png"/>
            <p:cNvPicPr preferRelativeResize="0"/>
            <p:nvPr/>
          </p:nvPicPr>
          <p:blipFill>
            <a:blip r:embed="rId3">
              <a:alphaModFix/>
            </a:blip>
            <a:stretch>
              <a:fillRect/>
            </a:stretch>
          </p:blipFill>
          <p:spPr>
            <a:xfrm>
              <a:off x="510675" y="444376"/>
              <a:ext cx="7549527" cy="3343126"/>
            </a:xfrm>
            <a:prstGeom prst="rect">
              <a:avLst/>
            </a:prstGeom>
            <a:noFill/>
            <a:ln>
              <a:noFill/>
            </a:ln>
          </p:spPr>
        </p:pic>
        <p:sp>
          <p:nvSpPr>
            <p:cNvPr id="148" name="Google Shape;148;p25"/>
            <p:cNvSpPr/>
            <p:nvPr/>
          </p:nvSpPr>
          <p:spPr>
            <a:xfrm>
              <a:off x="7029050" y="444375"/>
              <a:ext cx="1031100" cy="369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311700" y="280400"/>
            <a:ext cx="8520600" cy="1980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6900"/>
              <a:t>Solution </a:t>
            </a:r>
            <a:endParaRPr sz="6900"/>
          </a:p>
        </p:txBody>
      </p:sp>
      <p:grpSp>
        <p:nvGrpSpPr>
          <p:cNvPr id="154" name="Google Shape;154;p26"/>
          <p:cNvGrpSpPr/>
          <p:nvPr/>
        </p:nvGrpSpPr>
        <p:grpSpPr>
          <a:xfrm>
            <a:off x="797250" y="1712150"/>
            <a:ext cx="7271704" cy="3220099"/>
            <a:chOff x="510675" y="444375"/>
            <a:chExt cx="7549527" cy="3343127"/>
          </a:xfrm>
        </p:grpSpPr>
        <p:pic>
          <p:nvPicPr>
            <p:cNvPr id="155" name="Google Shape;155;p26" title="Screenshot 2026-03-22 at 23.57.32.png"/>
            <p:cNvPicPr preferRelativeResize="0"/>
            <p:nvPr/>
          </p:nvPicPr>
          <p:blipFill>
            <a:blip r:embed="rId3">
              <a:alphaModFix/>
            </a:blip>
            <a:stretch>
              <a:fillRect/>
            </a:stretch>
          </p:blipFill>
          <p:spPr>
            <a:xfrm>
              <a:off x="510675" y="444376"/>
              <a:ext cx="7549527" cy="3343126"/>
            </a:xfrm>
            <a:prstGeom prst="rect">
              <a:avLst/>
            </a:prstGeom>
            <a:noFill/>
            <a:ln>
              <a:noFill/>
            </a:ln>
          </p:spPr>
        </p:pic>
        <p:sp>
          <p:nvSpPr>
            <p:cNvPr id="156" name="Google Shape;156;p26"/>
            <p:cNvSpPr/>
            <p:nvPr/>
          </p:nvSpPr>
          <p:spPr>
            <a:xfrm>
              <a:off x="7029050" y="444375"/>
              <a:ext cx="1031100" cy="369600"/>
            </a:xfrm>
            <a:prstGeom prst="rect">
              <a:avLst/>
            </a:prstGeom>
            <a:solidFill>
              <a:schemeClr val="lt1"/>
            </a:solidFill>
            <a:ln>
              <a:noFill/>
            </a:ln>
          </p:spPr>
          <p:txBody>
            <a:bodyPr anchorCtr="0" anchor="ctr" bIns="88050" lIns="88050" spcFirstLastPara="1" rIns="88050" wrap="square" tIns="88050">
              <a:noAutofit/>
            </a:bodyPr>
            <a:lstStyle/>
            <a:p>
              <a:pPr indent="0" lvl="0" marL="0" rtl="0" algn="ctr">
                <a:spcBef>
                  <a:spcPts val="0"/>
                </a:spcBef>
                <a:spcAft>
                  <a:spcPts val="0"/>
                </a:spcAft>
                <a:buNone/>
              </a:pPr>
              <a:r>
                <a:t/>
              </a:r>
              <a:endParaRPr sz="1348">
                <a:latin typeface="Proxima Nova"/>
                <a:ea typeface="Proxima Nova"/>
                <a:cs typeface="Proxima Nova"/>
                <a:sym typeface="Proxima Nova"/>
              </a:endParaRPr>
            </a:p>
          </p:txBody>
        </p:sp>
      </p:grpSp>
      <p:sp>
        <p:nvSpPr>
          <p:cNvPr id="157" name="Google Shape;157;p26"/>
          <p:cNvSpPr txBox="1"/>
          <p:nvPr>
            <p:ph idx="1" type="body"/>
          </p:nvPr>
        </p:nvSpPr>
        <p:spPr>
          <a:xfrm>
            <a:off x="311700" y="2260400"/>
            <a:ext cx="2479200" cy="26208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1200"/>
              </a:spcAft>
              <a:buNone/>
            </a:pPr>
            <a:r>
              <a:rPr b="1" i="1" lang="en-GB">
                <a:solidFill>
                  <a:srgbClr val="FF0000"/>
                </a:solidFill>
              </a:rPr>
              <a:t>No! It is not </a:t>
            </a:r>
            <a:r>
              <a:rPr b="1" i="1" lang="en-GB">
                <a:solidFill>
                  <a:srgbClr val="FF0000"/>
                </a:solidFill>
              </a:rPr>
              <a:t>because</a:t>
            </a:r>
            <a:r>
              <a:rPr b="1" i="1" lang="en-GB">
                <a:solidFill>
                  <a:srgbClr val="FF0000"/>
                </a:solidFill>
              </a:rPr>
              <a:t> if the connection between points A and G shut down there will be no connection from A to any other points causing </a:t>
            </a:r>
            <a:r>
              <a:rPr b="1" i="1" lang="en-GB">
                <a:solidFill>
                  <a:srgbClr val="FF0000"/>
                </a:solidFill>
              </a:rPr>
              <a:t>failures</a:t>
            </a:r>
            <a:r>
              <a:rPr b="1" i="1" lang="en-GB">
                <a:solidFill>
                  <a:srgbClr val="FF0000"/>
                </a:solidFill>
              </a:rPr>
              <a:t> in the system. If there was any other connections from point A to any other points than the network would be more fault tolerant.</a:t>
            </a:r>
            <a:endParaRPr b="1" i="1">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311700" y="2480550"/>
            <a:ext cx="8522400" cy="244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5100"/>
              <a:t>Example Question #4:</a:t>
            </a:r>
            <a:endParaRPr sz="5100"/>
          </a:p>
        </p:txBody>
      </p:sp>
      <p:grpSp>
        <p:nvGrpSpPr>
          <p:cNvPr id="163" name="Google Shape;163;p27"/>
          <p:cNvGrpSpPr/>
          <p:nvPr/>
        </p:nvGrpSpPr>
        <p:grpSpPr>
          <a:xfrm>
            <a:off x="311700" y="396000"/>
            <a:ext cx="8393700" cy="3471625"/>
            <a:chOff x="311700" y="396000"/>
            <a:chExt cx="8393700" cy="3471625"/>
          </a:xfrm>
        </p:grpSpPr>
        <p:pic>
          <p:nvPicPr>
            <p:cNvPr id="164" name="Google Shape;164;p27" title="Screenshot 2026-03-23 at 00.07.58.png"/>
            <p:cNvPicPr preferRelativeResize="0"/>
            <p:nvPr/>
          </p:nvPicPr>
          <p:blipFill>
            <a:blip r:embed="rId3">
              <a:alphaModFix/>
            </a:blip>
            <a:stretch>
              <a:fillRect/>
            </a:stretch>
          </p:blipFill>
          <p:spPr>
            <a:xfrm>
              <a:off x="311700" y="396000"/>
              <a:ext cx="8393551" cy="3471625"/>
            </a:xfrm>
            <a:prstGeom prst="rect">
              <a:avLst/>
            </a:prstGeom>
            <a:noFill/>
            <a:ln>
              <a:noFill/>
            </a:ln>
          </p:spPr>
        </p:pic>
        <p:sp>
          <p:nvSpPr>
            <p:cNvPr id="165" name="Google Shape;165;p27"/>
            <p:cNvSpPr/>
            <p:nvPr/>
          </p:nvSpPr>
          <p:spPr>
            <a:xfrm>
              <a:off x="7147500" y="396000"/>
              <a:ext cx="15579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311700" y="0"/>
            <a:ext cx="8520600" cy="1980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6900"/>
              <a:t>Solution </a:t>
            </a:r>
            <a:endParaRPr sz="6900"/>
          </a:p>
        </p:txBody>
      </p:sp>
      <p:grpSp>
        <p:nvGrpSpPr>
          <p:cNvPr id="171" name="Google Shape;171;p28"/>
          <p:cNvGrpSpPr/>
          <p:nvPr/>
        </p:nvGrpSpPr>
        <p:grpSpPr>
          <a:xfrm>
            <a:off x="311700" y="1497300"/>
            <a:ext cx="8393700" cy="3471625"/>
            <a:chOff x="311700" y="396000"/>
            <a:chExt cx="8393700" cy="3471625"/>
          </a:xfrm>
        </p:grpSpPr>
        <p:pic>
          <p:nvPicPr>
            <p:cNvPr id="172" name="Google Shape;172;p28" title="Screenshot 2026-03-23 at 00.07.58.png"/>
            <p:cNvPicPr preferRelativeResize="0"/>
            <p:nvPr/>
          </p:nvPicPr>
          <p:blipFill>
            <a:blip r:embed="rId3">
              <a:alphaModFix/>
            </a:blip>
            <a:stretch>
              <a:fillRect/>
            </a:stretch>
          </p:blipFill>
          <p:spPr>
            <a:xfrm>
              <a:off x="311700" y="396000"/>
              <a:ext cx="8393551" cy="3471625"/>
            </a:xfrm>
            <a:prstGeom prst="rect">
              <a:avLst/>
            </a:prstGeom>
            <a:noFill/>
            <a:ln>
              <a:noFill/>
            </a:ln>
          </p:spPr>
        </p:pic>
        <p:sp>
          <p:nvSpPr>
            <p:cNvPr id="173" name="Google Shape;173;p28"/>
            <p:cNvSpPr/>
            <p:nvPr/>
          </p:nvSpPr>
          <p:spPr>
            <a:xfrm>
              <a:off x="7147500" y="396000"/>
              <a:ext cx="15579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
        <p:nvSpPr>
          <p:cNvPr id="174" name="Google Shape;174;p28"/>
          <p:cNvSpPr txBox="1"/>
          <p:nvPr>
            <p:ph idx="1" type="body"/>
          </p:nvPr>
        </p:nvSpPr>
        <p:spPr>
          <a:xfrm>
            <a:off x="133125" y="2270325"/>
            <a:ext cx="2331300" cy="26208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1200"/>
              </a:spcAft>
              <a:buNone/>
            </a:pPr>
            <a:r>
              <a:rPr b="1" i="1" lang="en-GB">
                <a:solidFill>
                  <a:srgbClr val="FF0000"/>
                </a:solidFill>
              </a:rPr>
              <a:t>Yes it is!! </a:t>
            </a:r>
            <a:br>
              <a:rPr b="1" i="1" lang="en-GB">
                <a:solidFill>
                  <a:srgbClr val="FF0000"/>
                </a:solidFill>
              </a:rPr>
            </a:br>
            <a:r>
              <a:rPr b="1" i="1" lang="en-GB">
                <a:solidFill>
                  <a:srgbClr val="FF0000"/>
                </a:solidFill>
              </a:rPr>
              <a:t>All points have at least two connections so the network is able to keep on working even if one connection shuts down. </a:t>
            </a:r>
            <a:endParaRPr b="1" i="1">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type="title"/>
          </p:nvPr>
        </p:nvSpPr>
        <p:spPr>
          <a:xfrm>
            <a:off x="311700" y="2480550"/>
            <a:ext cx="8383500" cy="244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5100"/>
              <a:t>Example Question #5:</a:t>
            </a:r>
            <a:endParaRPr sz="5100"/>
          </a:p>
        </p:txBody>
      </p:sp>
      <p:grpSp>
        <p:nvGrpSpPr>
          <p:cNvPr id="180" name="Google Shape;180;p29"/>
          <p:cNvGrpSpPr/>
          <p:nvPr/>
        </p:nvGrpSpPr>
        <p:grpSpPr>
          <a:xfrm>
            <a:off x="489775" y="376850"/>
            <a:ext cx="7967426" cy="3413375"/>
            <a:chOff x="489775" y="376850"/>
            <a:chExt cx="7967426" cy="3413375"/>
          </a:xfrm>
        </p:grpSpPr>
        <p:pic>
          <p:nvPicPr>
            <p:cNvPr id="181" name="Google Shape;181;p29" title="Screenshot 2026-03-23 at 00.11.51.png"/>
            <p:cNvPicPr preferRelativeResize="0"/>
            <p:nvPr/>
          </p:nvPicPr>
          <p:blipFill>
            <a:blip r:embed="rId3">
              <a:alphaModFix/>
            </a:blip>
            <a:stretch>
              <a:fillRect/>
            </a:stretch>
          </p:blipFill>
          <p:spPr>
            <a:xfrm>
              <a:off x="489775" y="376850"/>
              <a:ext cx="7967426" cy="3413375"/>
            </a:xfrm>
            <a:prstGeom prst="rect">
              <a:avLst/>
            </a:prstGeom>
            <a:noFill/>
            <a:ln>
              <a:noFill/>
            </a:ln>
          </p:spPr>
        </p:pic>
        <p:sp>
          <p:nvSpPr>
            <p:cNvPr id="182" name="Google Shape;182;p29"/>
            <p:cNvSpPr/>
            <p:nvPr/>
          </p:nvSpPr>
          <p:spPr>
            <a:xfrm>
              <a:off x="7087975" y="376850"/>
              <a:ext cx="1369200" cy="32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311700" y="280400"/>
            <a:ext cx="8520600" cy="1980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6900"/>
              <a:t>Solution </a:t>
            </a:r>
            <a:endParaRPr sz="6900"/>
          </a:p>
        </p:txBody>
      </p:sp>
      <p:grpSp>
        <p:nvGrpSpPr>
          <p:cNvPr id="188" name="Google Shape;188;p30"/>
          <p:cNvGrpSpPr/>
          <p:nvPr/>
        </p:nvGrpSpPr>
        <p:grpSpPr>
          <a:xfrm>
            <a:off x="479850" y="1815500"/>
            <a:ext cx="7967426" cy="3413375"/>
            <a:chOff x="489775" y="376850"/>
            <a:chExt cx="7967426" cy="3413375"/>
          </a:xfrm>
        </p:grpSpPr>
        <p:pic>
          <p:nvPicPr>
            <p:cNvPr id="189" name="Google Shape;189;p30" title="Screenshot 2026-03-23 at 00.11.51.png"/>
            <p:cNvPicPr preferRelativeResize="0"/>
            <p:nvPr/>
          </p:nvPicPr>
          <p:blipFill>
            <a:blip r:embed="rId3">
              <a:alphaModFix/>
            </a:blip>
            <a:stretch>
              <a:fillRect/>
            </a:stretch>
          </p:blipFill>
          <p:spPr>
            <a:xfrm>
              <a:off x="489775" y="376850"/>
              <a:ext cx="7967426" cy="3413375"/>
            </a:xfrm>
            <a:prstGeom prst="rect">
              <a:avLst/>
            </a:prstGeom>
            <a:noFill/>
            <a:ln>
              <a:noFill/>
            </a:ln>
          </p:spPr>
        </p:pic>
        <p:sp>
          <p:nvSpPr>
            <p:cNvPr id="190" name="Google Shape;190;p30"/>
            <p:cNvSpPr/>
            <p:nvPr/>
          </p:nvSpPr>
          <p:spPr>
            <a:xfrm>
              <a:off x="7087975" y="376850"/>
              <a:ext cx="1369200" cy="32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
        <p:nvSpPr>
          <p:cNvPr id="191" name="Google Shape;191;p30"/>
          <p:cNvSpPr txBox="1"/>
          <p:nvPr>
            <p:ph idx="1" type="body"/>
          </p:nvPr>
        </p:nvSpPr>
        <p:spPr>
          <a:xfrm>
            <a:off x="311700" y="2260400"/>
            <a:ext cx="2479200" cy="2620800"/>
          </a:xfrm>
          <a:prstGeom prst="rect">
            <a:avLst/>
          </a:prstGeom>
        </p:spPr>
        <p:txBody>
          <a:bodyPr anchorCtr="0" anchor="t" bIns="91425" lIns="91425" spcFirstLastPara="1" rIns="134100" wrap="square" tIns="91425">
            <a:normAutofit fontScale="77500" lnSpcReduction="20000"/>
          </a:bodyPr>
          <a:lstStyle/>
          <a:p>
            <a:pPr indent="0" lvl="0" marL="0" rtl="0" algn="ctr">
              <a:spcBef>
                <a:spcPts val="0"/>
              </a:spcBef>
              <a:spcAft>
                <a:spcPts val="1200"/>
              </a:spcAft>
              <a:buNone/>
            </a:pPr>
            <a:r>
              <a:rPr b="1" i="1" lang="en-GB">
                <a:solidFill>
                  <a:srgbClr val="FF0000"/>
                </a:solidFill>
              </a:rPr>
              <a:t>No! It is not because if the connection between points F and C shut down there will be no connection from F to any other points causing failures in the system. If there was any other connections from point F to any other points than the network would be more fault tolerant.</a:t>
            </a:r>
            <a:endParaRPr b="1" i="1">
              <a:solidFill>
                <a:srgbClr val="FF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